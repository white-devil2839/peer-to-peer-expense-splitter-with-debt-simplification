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 rot="1800000">
            <a:off x="9601200" y="274320"/>
            <a:ext cx="1371600" cy="1371600"/>
          </a:xfrm>
          <a:prstGeom prst="hexagon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 rot="1800000">
            <a:off x="10332720" y="822959"/>
            <a:ext cx="1371600" cy="1371600"/>
          </a:xfrm>
          <a:prstGeom prst="hexagon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 rot="1800000">
            <a:off x="11064240" y="1371600"/>
            <a:ext cx="1371600" cy="1371600"/>
          </a:xfrm>
          <a:prstGeom prst="hexagon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 rot="1800000">
            <a:off x="10241280" y="2286000"/>
            <a:ext cx="1645920" cy="1645920"/>
          </a:xfrm>
          <a:prstGeom prst="hexagon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274320"/>
            <a:ext cx="3657600" cy="4572000"/>
          </a:xfrm>
          <a:prstGeom prst="rect">
            <a:avLst/>
          </a:prstGeom>
          <a:noFill/>
          <a:ln w="381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0" y="365760"/>
            <a:ext cx="3840480" cy="10058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E53935"/>
                </a:solidFill>
                <a:latin typeface="Calibri"/>
              </a:defRPr>
            </a:pPr>
            <a:r>
              <a:t>OVER CLOCK 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1645920"/>
            <a:ext cx="7772400" cy="4114800"/>
          </a:xfrm>
          <a:prstGeom prst="roundRect">
            <a:avLst/>
          </a:prstGeom>
          <a:solidFill>
            <a:srgbClr val="D7EEF6"/>
          </a:solidFill>
          <a:ln w="381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828800" y="2011680"/>
            <a:ext cx="6858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333333"/>
                </a:solidFill>
                <a:latin typeface="Calibri"/>
              </a:defRPr>
            </a:pPr>
            <a:r>
              <a:t>PeerFlow — Graph-Optimized Expense Settlement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017520"/>
            <a:ext cx="6858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 i="1">
                <a:solidFill>
                  <a:srgbClr val="666666"/>
                </a:solidFill>
                <a:latin typeface="Calibri"/>
              </a:defRPr>
            </a:pPr>
            <a:r>
              <a:t>Minimize transactions. Maximize trust. Zero floating-point errors.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840480"/>
            <a:ext cx="6858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0796B"/>
                </a:solidFill>
                <a:latin typeface="Calibri"/>
              </a:defRPr>
            </a:pPr>
            <a:r>
              <a:t>PS Category — FinTech / Graph-Based Optimization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572000"/>
            <a:ext cx="6858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0796B"/>
                </a:solidFill>
                <a:latin typeface="Calibri"/>
              </a:defRPr>
            </a:pPr>
            <a:r>
              <a:t>Team — Divyansh Choudhary · Ansh Baheti · Tisha Kharade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0" y="274320"/>
            <a:ext cx="5760720" cy="82296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0096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63040"/>
            <a:ext cx="3474720" cy="4572000"/>
          </a:xfrm>
          <a:prstGeom prst="roundRect">
            <a:avLst/>
          </a:prstGeom>
          <a:solidFill>
            <a:srgbClr val="F5E6AB"/>
          </a:solidFill>
          <a:ln w="25400">
            <a:solidFill>
              <a:srgbClr val="CCB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731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666666"/>
                </a:solidFill>
                <a:latin typeface="Calibri"/>
              </a:defRPr>
            </a:pPr>
            <a:r>
              <a:t>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000000"/>
                </a:solidFill>
                <a:latin typeface="Calibri"/>
              </a:defRPr>
            </a:pPr>
            <a:r>
              <a:t>The Solution: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514600"/>
            <a:ext cx="3200400" cy="3291840"/>
          </a:xfrm>
          <a:prstGeom prst="roundRect">
            <a:avLst/>
          </a:prstGeom>
          <a:solidFill>
            <a:srgbClr val="FFFBE6"/>
          </a:solidFill>
          <a:ln w="12700">
            <a:solidFill>
              <a:srgbClr val="DDC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3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Shared expenses in groups create a tangled web of micro-debts — tracking who owes whom becomes exponentially complex.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Aft>
                <a:spcPts val="3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PeerFlow solves this by modeling debts as a directed graph and applying a Minimum Cash Flow algorithm to reduce 12+ raw transactions to just 3 optimized settlements.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Aft>
                <a:spcPts val="3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Result: 75% fewer transactions, zero ambiguity, zero trust friction.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463040"/>
            <a:ext cx="3474720" cy="4572000"/>
          </a:xfrm>
          <a:prstGeom prst="roundRect">
            <a:avLst/>
          </a:prstGeom>
          <a:solidFill>
            <a:srgbClr val="F5E6AB"/>
          </a:solidFill>
          <a:ln w="25400">
            <a:solidFill>
              <a:srgbClr val="CCB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4389120" y="1600200"/>
            <a:ext cx="731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666666"/>
                </a:solidFill>
                <a:latin typeface="Calibri"/>
              </a:defRPr>
            </a:pPr>
            <a:r>
              <a:t>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05740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000000"/>
                </a:solidFill>
                <a:latin typeface="Calibri"/>
              </a:defRPr>
            </a:pPr>
            <a:r>
              <a:t>Uniqueness: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514600"/>
            <a:ext cx="3200400" cy="3291840"/>
          </a:xfrm>
          <a:prstGeom prst="roundRect">
            <a:avLst/>
          </a:prstGeom>
          <a:solidFill>
            <a:srgbClr val="FFFBE6"/>
          </a:solidFill>
          <a:ln w="12700">
            <a:solidFill>
              <a:srgbClr val="DDC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3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Integer-only paise accounting — zero floating-point drift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Graph-based O(n log n) settlement optimization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Governance engine: 50% majority approval + 75% overdue consensus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What-If Simulator for pre-payment impact analysis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D3.js before/after debt graph visualization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Financial invariant: Σ(net) = 0 enforced at every state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463040"/>
            <a:ext cx="3474720" cy="4572000"/>
          </a:xfrm>
          <a:prstGeom prst="roundRect">
            <a:avLst/>
          </a:prstGeom>
          <a:solidFill>
            <a:srgbClr val="F5E6AB"/>
          </a:solidFill>
          <a:ln w="25400">
            <a:solidFill>
              <a:srgbClr val="CCB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8138160" y="1600200"/>
            <a:ext cx="731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666666"/>
                </a:solidFill>
                <a:latin typeface="Calibri"/>
              </a:defRPr>
            </a:pPr>
            <a:r>
              <a:t>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05740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000000"/>
                </a:solidFill>
                <a:latin typeface="Calibri"/>
              </a:defRPr>
            </a:pPr>
            <a:r>
              <a:t>Innovation: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2514600"/>
            <a:ext cx="3200400" cy="3291840"/>
          </a:xfrm>
          <a:prstGeom prst="roundRect">
            <a:avLst/>
          </a:prstGeom>
          <a:solidFill>
            <a:srgbClr val="FFFBE6"/>
          </a:solidFill>
          <a:ln w="12700">
            <a:solidFill>
              <a:srgbClr val="DDC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3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First peer-to-peer expense system combining graph optimization with democratic governance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Overpayment impossible by design (clamped to max outstanding)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Real-time debt trend indicators per member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Risk meter tied to configurable threshold alerts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56 automated financial integrity tests ensure correctness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Recurring expense engine with auto-split propagation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TECHNICAL APPROACH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188720"/>
            <a:ext cx="640080" cy="6400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1887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9688"/>
                </a:solidFill>
                <a:latin typeface="Calibri"/>
              </a:defRPr>
            </a:pPr>
            <a:r>
              <a:t>Expense Recording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1481328"/>
            <a:ext cx="4572000" cy="594360"/>
          </a:xfrm>
          <a:prstGeom prst="roundRect">
            <a:avLst/>
          </a:prstGeom>
          <a:solidFill>
            <a:srgbClr val="D7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Integer paise model — ₹100.50 stored as 10050. Zero floating-point drift. All splits computed atomically.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2194560"/>
            <a:ext cx="640080" cy="640080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19456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7B1FA2"/>
                </a:solidFill>
                <a:latin typeface="Calibri"/>
              </a:defRPr>
            </a:pPr>
            <a:r>
              <a:t>Net Balance Computation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2487168"/>
            <a:ext cx="4572000" cy="594360"/>
          </a:xfrm>
          <a:prstGeom prst="roundRect">
            <a:avLst/>
          </a:prstGeom>
          <a:solidFill>
            <a:srgbClr val="D7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Per-member net = Σ(paid) − Σ(owed). Financial invariant Σ(net) = 0 enforced. Only approved expenses counted.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3200400"/>
            <a:ext cx="640080" cy="640080"/>
          </a:xfrm>
          <a:prstGeom prst="ellipse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2004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57C00"/>
                </a:solidFill>
                <a:latin typeface="Calibri"/>
              </a:defRPr>
            </a:pPr>
            <a:r>
              <a:t>Raw Debt Graph Construction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80160" y="3493008"/>
            <a:ext cx="4572000" cy="594360"/>
          </a:xfrm>
          <a:prstGeom prst="roundRect">
            <a:avLst/>
          </a:prstGeom>
          <a:solidFill>
            <a:srgbClr val="D7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Each expense split → directed edge. Group of 5 members can generate 12+ raw transactions per cycle.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4206240"/>
            <a:ext cx="640080" cy="640080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20624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E53935"/>
                </a:solidFill>
                <a:latin typeface="Calibri"/>
              </a:defRPr>
            </a:pPr>
            <a:r>
              <a:t>Minimum Cash Flow Algorithm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0" y="4498848"/>
            <a:ext cx="4572000" cy="594360"/>
          </a:xfrm>
          <a:prstGeom prst="roundRect">
            <a:avLst/>
          </a:prstGeom>
          <a:solidFill>
            <a:srgbClr val="D7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O(n log n) greedy matching: max creditor ↔ max debtor. 12 raw → 3 simplified. 75% transaction reduction.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5212080"/>
            <a:ext cx="640080" cy="64008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52120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E91E63"/>
                </a:solidFill>
                <a:latin typeface="Calibri"/>
              </a:defRPr>
            </a:pPr>
            <a:r>
              <a:t>Governance &amp; Overdue Engine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0" y="5504688"/>
            <a:ext cx="4572000" cy="594360"/>
          </a:xfrm>
          <a:prstGeom prst="roundRect">
            <a:avLst/>
          </a:prstGeom>
          <a:solidFill>
            <a:srgbClr val="D7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50% majority approval for expenses. 75% consensus for overdue marking. Overdue users blocked from new expenses but CAN pay debts.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1188720"/>
            <a:ext cx="3200400" cy="1371600"/>
          </a:xfrm>
          <a:prstGeom prst="roundRect">
            <a:avLst/>
          </a:prstGeom>
          <a:solidFill>
            <a:srgbClr val="FCE4EC"/>
          </a:solidFill>
          <a:ln w="2540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  <a:defRPr sz="1200" b="1">
                <a:solidFill>
                  <a:srgbClr val="E91E63"/>
                </a:solidFill>
                <a:latin typeface="Calibri"/>
              </a:defRPr>
            </a:pPr>
            <a:r>
              <a:t>KEY METRIC: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12 raw transactions → 3 simplified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75% reduction in settlement complexity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Financial integrity: 56 automated tests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1188720"/>
            <a:ext cx="1828800" cy="822960"/>
          </a:xfrm>
          <a:prstGeom prst="roundRect">
            <a:avLst/>
          </a:prstGeom>
          <a:solidFill>
            <a:srgbClr val="F5E6AB"/>
          </a:solidFill>
          <a:ln w="12700">
            <a:solidFill>
              <a:srgbClr val="CC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User adds expense</a:t>
            </a:r>
            <a:br/>
            <a:r>
              <a:t>(paise integer model)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7360920" y="2011680"/>
            <a:ext cx="274320" cy="182880"/>
          </a:xfrm>
          <a:prstGeom prst="downArrow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83680" y="2286000"/>
            <a:ext cx="1828800" cy="822960"/>
          </a:xfrm>
          <a:prstGeom prst="roundRect">
            <a:avLst/>
          </a:prstGeom>
          <a:solidFill>
            <a:srgbClr val="F5E6AB"/>
          </a:solidFill>
          <a:ln w="12700">
            <a:solidFill>
              <a:srgbClr val="CC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Approval vote triggered</a:t>
            </a:r>
            <a:br/>
            <a:r>
              <a:t>(≥50% required)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7360920" y="3108960"/>
            <a:ext cx="274320" cy="182880"/>
          </a:xfrm>
          <a:prstGeom prst="downArrow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83680" y="3383280"/>
            <a:ext cx="1828800" cy="822960"/>
          </a:xfrm>
          <a:prstGeom prst="roundRect">
            <a:avLst/>
          </a:prstGeom>
          <a:solidFill>
            <a:srgbClr val="F5E6AB"/>
          </a:solidFill>
          <a:ln w="12700">
            <a:solidFill>
              <a:srgbClr val="CC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Balance engine recomputes</a:t>
            </a:r>
            <a:br/>
            <a:r>
              <a:t>(Σnet = 0 invariant)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7360920" y="4206240"/>
            <a:ext cx="274320" cy="182880"/>
          </a:xfrm>
          <a:prstGeom prst="downArrow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83680" y="4480560"/>
            <a:ext cx="1828800" cy="822960"/>
          </a:xfrm>
          <a:prstGeom prst="roundRect">
            <a:avLst/>
          </a:prstGeom>
          <a:solidFill>
            <a:srgbClr val="F5E6AB"/>
          </a:solidFill>
          <a:ln w="12700">
            <a:solidFill>
              <a:srgbClr val="CC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Min Cash Flow runs</a:t>
            </a:r>
            <a:br/>
            <a:r>
              <a:t>(O(n log n) greedy)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7360920" y="5303520"/>
            <a:ext cx="274320" cy="182880"/>
          </a:xfrm>
          <a:prstGeom prst="downArrow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83680" y="5577840"/>
            <a:ext cx="1828800" cy="822960"/>
          </a:xfrm>
          <a:prstGeom prst="roundRect">
            <a:avLst/>
          </a:prstGeom>
          <a:solidFill>
            <a:srgbClr val="F5E6AB"/>
          </a:solidFill>
          <a:ln w="12700">
            <a:solidFill>
              <a:srgbClr val="CC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Simplified settlements</a:t>
            </a:r>
            <a:br/>
            <a:r>
              <a:t>rendered via D3.js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0" y="274320"/>
            <a:ext cx="6675120" cy="82296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0096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FEASIBILITY AND VIABILITY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303520" cy="4754880"/>
          </a:xfrm>
          <a:prstGeom prst="roundRect">
            <a:avLst/>
          </a:prstGeom>
          <a:solidFill>
            <a:srgbClr val="FDF5D6"/>
          </a:solidFill>
          <a:ln w="381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009688"/>
                </a:solidFill>
                <a:latin typeface="Calibri"/>
              </a:defRPr>
            </a:pPr>
            <a:r>
              <a:t>Feasibility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4754880" cy="3749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C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✅ MERN Stack (MongoDB, Express, React, Node.js)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   — Production-proven, scalable, well-documented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✅ D3.js Force-Directed Graph Visualization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   — Interactive before/after debt comparison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✅ JWT Token-Based Authentication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   — Stateless, secure, cookie-free auth flow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✅ Pure-Function Financial Core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   — Deterministic, testable, zero side effects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   — 56 Jest tests validating invariants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✅ Integer-Safe Accounting (Paise Model)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   — ₹100.50 → 10050 integer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   — Eliminates floating-point accumulation errors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✅ Tailwind CSS + Dark/Light Theme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   — Premium UI with responsive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303520" cy="4754880"/>
          </a:xfrm>
          <a:prstGeom prst="roundRect">
            <a:avLst/>
          </a:prstGeom>
          <a:solidFill>
            <a:srgbClr val="FDF5D6"/>
          </a:solidFill>
          <a:ln w="381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6675120" y="155448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E53935"/>
                </a:solidFill>
                <a:latin typeface="Calibri"/>
              </a:defRPr>
            </a:pPr>
            <a:r>
              <a:t>Challenges → Engineered Solutions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2103120"/>
            <a:ext cx="4754880" cy="3749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C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⚠️ Floating-Point Drift in Currency Math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 → SOLVED: All amounts in integer paise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 → No parseFloat anywhere in financial logic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⚠️ Overpayment &amp; Role Inversion Risk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 → SOLVED: max = min(|debtorNet|, creditorNet)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 → Input clamped + UI validation enforced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⚠️ Governance Edge Cases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 → SOLVED: Group-scoped overdue (not global)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 → Overdue users can pay but can't add expenses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 → 75% consensus required for overdue marking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⚠️ Maintaining Σ(net) = 0 Invariant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 → SOLVED: Atomic balance recomputation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 → Only approved expenses counted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 → 56 automated tests enforce at every state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⚠️ Complex Graph State After Partial Payments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 → SOLVED: Re-simplification on every payment</a:t>
            </a:r>
          </a:p>
        </p:txBody>
      </p:sp>
      <p:sp>
        <p:nvSpPr>
          <p:cNvPr id="9" name="Oval 8"/>
          <p:cNvSpPr/>
          <p:nvPr/>
        </p:nvSpPr>
        <p:spPr>
          <a:xfrm>
            <a:off x="5577840" y="1828800"/>
            <a:ext cx="457200" cy="457200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⚙</a:t>
            </a:r>
          </a:p>
        </p:txBody>
      </p:sp>
      <p:sp>
        <p:nvSpPr>
          <p:cNvPr id="10" name="Oval 9"/>
          <p:cNvSpPr/>
          <p:nvPr/>
        </p:nvSpPr>
        <p:spPr>
          <a:xfrm>
            <a:off x="5577840" y="4572000"/>
            <a:ext cx="457200" cy="457200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IMPACT AND BENEFITS</a:t>
            </a:r>
          </a:p>
        </p:txBody>
      </p:sp>
      <p:sp>
        <p:nvSpPr>
          <p:cNvPr id="3" name="Oval 2"/>
          <p:cNvSpPr/>
          <p:nvPr/>
        </p:nvSpPr>
        <p:spPr>
          <a:xfrm>
            <a:off x="1828800" y="1097280"/>
            <a:ext cx="731520" cy="73152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20240"/>
            <a:ext cx="347472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009688"/>
                </a:solidFill>
                <a:latin typeface="Calibri"/>
              </a:defRPr>
            </a:pPr>
            <a:r>
              <a:t>Social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292608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Eliminates trust friction in shared living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Transparent accountability — every transaction visible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Democratic governance prevents unilateral decisions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Overdue system creates social accountability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Reduces money-related conflict in friendships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Equal access: mobile-friendly responsive UI</a:t>
            </a:r>
          </a:p>
        </p:txBody>
      </p:sp>
      <p:sp>
        <p:nvSpPr>
          <p:cNvPr id="7" name="Oval 6"/>
          <p:cNvSpPr/>
          <p:nvPr/>
        </p:nvSpPr>
        <p:spPr>
          <a:xfrm>
            <a:off x="5577840" y="1097280"/>
            <a:ext cx="731520" cy="731520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920240"/>
            <a:ext cx="347472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389120" y="201168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7B1FA2"/>
                </a:solidFill>
                <a:latin typeface="Calibri"/>
              </a:defRPr>
            </a:pPr>
            <a:r>
              <a:t>Technical 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468880"/>
            <a:ext cx="292608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Graph theory applied to real financial problems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O(n log n) settlement algorithm — scalable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75% transaction reduction proven empirically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Pure-function architecture — fully testable core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56 automated tests for financial integrity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Debt trend analytics + risk visualization with D3.js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0" y="1097280"/>
            <a:ext cx="731520" cy="7315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920240"/>
            <a:ext cx="347472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138160" y="201168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2E7D32"/>
                </a:solidFill>
                <a:latin typeface="Calibri"/>
              </a:defRPr>
            </a:pPr>
            <a:r>
              <a:t>Economic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468880"/>
            <a:ext cx="292608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75% fewer bank transfers per settlement cycle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Zero currency rounding loss (paise precision)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Configurable threshold alerts prevent debt buildup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What-If Simulator enables pre-payment planning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Recurring expense automation reduces overhead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Scalable from roommates to organizations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486400"/>
            <a:ext cx="11247120" cy="731520"/>
          </a:xfrm>
          <a:prstGeom prst="roundRect">
            <a:avLst/>
          </a:prstGeom>
          <a:solidFill>
            <a:srgbClr val="D7EEF6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PeerFlow transforms expense splitting from a social friction point into a mathematically guaranteed, trust-transparent process. Every rupee is accounted for. Every transaction is minimized. Every decision is governed democratically.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Team PeerFlow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474720" cy="38404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4" name="Oval 3"/>
          <p:cNvSpPr/>
          <p:nvPr/>
        </p:nvSpPr>
        <p:spPr>
          <a:xfrm>
            <a:off x="1737360" y="1371600"/>
            <a:ext cx="914400" cy="914400"/>
          </a:xfrm>
          <a:prstGeom prst="ellipse">
            <a:avLst/>
          </a:prstGeom>
          <a:solidFill>
            <a:srgbClr val="D7EEF6"/>
          </a:solidFill>
          <a:ln w="381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/>
            </a:pPr>
            <a:r>
              <a:t>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333333"/>
                </a:solidFill>
                <a:latin typeface="Calibri"/>
              </a:defRPr>
            </a:pPr>
            <a:r>
              <a:t>Divyansh Choudhary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3108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 i="1">
                <a:solidFill>
                  <a:srgbClr val="009688"/>
                </a:solidFill>
                <a:latin typeface="Calibri"/>
              </a:defRPr>
            </a:pPr>
            <a:r>
              <a:t>Full-Stack Engineer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54680"/>
            <a:ext cx="2926080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• Architecture design &amp; backend API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• Governance engine (approval + overdue)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• Financial logic &amp; integer paise model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• Testing &amp; validation (56 tests)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• Frontend UI &amp; theme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188720"/>
            <a:ext cx="3474720" cy="38404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9" name="Oval 8"/>
          <p:cNvSpPr/>
          <p:nvPr/>
        </p:nvSpPr>
        <p:spPr>
          <a:xfrm>
            <a:off x="5486400" y="1371600"/>
            <a:ext cx="914400" cy="914400"/>
          </a:xfrm>
          <a:prstGeom prst="ellipse">
            <a:avLst/>
          </a:prstGeom>
          <a:solidFill>
            <a:srgbClr val="D7EEF6"/>
          </a:solidFill>
          <a:ln w="381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/>
            </a:pPr>
            <a:r>
              <a:t>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37744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333333"/>
                </a:solidFill>
                <a:latin typeface="Calibri"/>
              </a:defRPr>
            </a:pPr>
            <a:r>
              <a:t>Ansh Baheti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743200"/>
            <a:ext cx="3108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 i="1">
                <a:solidFill>
                  <a:srgbClr val="7B1FA2"/>
                </a:solidFill>
                <a:latin typeface="Calibri"/>
              </a:defRPr>
            </a:pPr>
            <a:r>
              <a:t>Algorithm Engineer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154680"/>
            <a:ext cx="2926080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• Minimum Cash Flow algorithm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• O(n log n) greedy optimization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• Balance computation engine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• Debt graph modeling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• Settlement efficiency metrics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188720"/>
            <a:ext cx="3474720" cy="38404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14" name="Oval 13"/>
          <p:cNvSpPr/>
          <p:nvPr/>
        </p:nvSpPr>
        <p:spPr>
          <a:xfrm>
            <a:off x="9235440" y="1371600"/>
            <a:ext cx="914400" cy="914400"/>
          </a:xfrm>
          <a:prstGeom prst="ellipse">
            <a:avLst/>
          </a:prstGeom>
          <a:solidFill>
            <a:srgbClr val="D7EEF6"/>
          </a:solidFill>
          <a:ln w="381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/>
            </a:pPr>
            <a:r>
              <a:t>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37744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333333"/>
                </a:solidFill>
                <a:latin typeface="Calibri"/>
              </a:defRPr>
            </a:pPr>
            <a:r>
              <a:t>Tisha Kharade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743200"/>
            <a:ext cx="3108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 i="1">
                <a:solidFill>
                  <a:srgbClr val="F57C00"/>
                </a:solidFill>
                <a:latin typeface="Calibri"/>
              </a:defRPr>
            </a:pPr>
            <a:r>
              <a:t>DevOps &amp; Deployment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154680"/>
            <a:ext cx="2926080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• Deployment setup &amp; config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• Environment configuration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• Production hosting pipeline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• CI/CD integration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• Performance monitoring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303520"/>
            <a:ext cx="11247120" cy="822960"/>
          </a:xfrm>
          <a:prstGeom prst="roundRect">
            <a:avLst/>
          </a:prstGeom>
          <a:solidFill>
            <a:srgbClr val="D7EEF6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19" name="Oval 18"/>
          <p:cNvSpPr/>
          <p:nvPr/>
        </p:nvSpPr>
        <p:spPr>
          <a:xfrm>
            <a:off x="640080" y="5440680"/>
            <a:ext cx="548640" cy="54864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44068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00796B"/>
                </a:solidFill>
                <a:latin typeface="Calibri"/>
              </a:defRPr>
            </a:pPr>
            <a:r>
              <a:t>PeerFlow — Minimizing transactions. Maximizing trust. Built with mathematical precision.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